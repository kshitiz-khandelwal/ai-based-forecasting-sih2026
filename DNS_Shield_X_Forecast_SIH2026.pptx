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SMART INDIA HACKATHON 2026 — OFFICIAL IDEA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DNS SHIELD X-FORECAST</a:t>
            </a:r>
          </a:p>
          <a:p>
            <a:pPr>
              <a:defRPr sz="1700">
                <a:solidFill>
                  <a:srgbClr val="06B6D4"/>
                </a:solidFill>
              </a:defRPr>
            </a:pPr>
            <a:r>
              <a:t>AI-Powered Network Attack Forecasting &amp; Sovereign Edge Hardware Sentinel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6217920" cy="356616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78608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 &amp; CHALLENGE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58521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b="1">
                <a:solidFill>
                  <a:srgbClr val="06B6D4"/>
                </a:solidFill>
              </a:rPr>
              <a:t>• Problem Statement: </a:t>
            </a:r>
            <a:r>
              <a:rPr>
                <a:solidFill>
                  <a:srgbClr val="F8FAFC"/>
                </a:solidFill>
              </a:rPr>
              <a:t>AI based Network Attack Forecasting from Network Traffic Data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06B6D4"/>
                </a:solidFill>
              </a:rPr>
              <a:t>• Theme &amp; Category: </a:t>
            </a:r>
            <a:r>
              <a:rPr>
                <a:solidFill>
                  <a:srgbClr val="F8FAFC"/>
                </a:solidFill>
              </a:rPr>
              <a:t>Cyber Security / Space &amp; Defense / Software + Hardware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06B6D4"/>
                </a:solidFill>
              </a:rPr>
              <a:t>• Core Mission: </a:t>
            </a:r>
            <a:r>
              <a:rPr>
                <a:solidFill>
                  <a:srgbClr val="F8FAFC"/>
                </a:solidFill>
              </a:rPr>
              <a:t>Shifting from Reactive Packet Blocking to Preemptive Attack Forecasting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06B6D4"/>
                </a:solidFill>
              </a:rPr>
              <a:t>• Team Name: </a:t>
            </a:r>
            <a:r>
              <a:rPr>
                <a:solidFill>
                  <a:srgbClr val="F8FAFC"/>
                </a:solidFill>
              </a:rPr>
              <a:t>Tragic Bytes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06B6D4"/>
                </a:solidFill>
              </a:rPr>
              <a:t>• Live Deployment: </a:t>
            </a:r>
            <a:r>
              <a:rPr>
                <a:solidFill>
                  <a:srgbClr val="F8FAFC"/>
                </a:solidFill>
              </a:rPr>
              <a:t>https://dnssecurityproject.vercel.app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468880"/>
            <a:ext cx="4327855" cy="356616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578608"/>
            <a:ext cx="4053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CORE NOVELTY &amp; DIFFERENTIATORS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26080"/>
            <a:ext cx="39620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⚡ 0–10ms Real-Time Triage
</a:t>
            </a:r>
            <a:r>
              <a:rPr sz="900">
                <a:solidFill>
                  <a:srgbClr val="94A3B8"/>
                </a:solidFill>
              </a:rPr>
              <a:t>7-stage cascade: Bloom filters, Redis IOCs, &amp; 150-Tree Random Forest.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🔮 Temporal Attack Forecasting
</a:t>
            </a:r>
            <a:r>
              <a:rPr sz="900">
                <a:solidFill>
                  <a:srgbClr val="94A3B8"/>
                </a:solidFill>
              </a:rPr>
              <a:t>Sliding session buffer + Markov graph projecting MITRE tactics 15-60m ahead.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⏱️ Dynamic Time-to-Compromise
</a:t>
            </a:r>
            <a:r>
              <a:rPr sz="900">
                <a:solidFill>
                  <a:srgbClr val="94A3B8"/>
                </a:solidFill>
              </a:rPr>
              <a:t>Mathematical formula deriving minutes remaining before data exfiltration.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🛡️ Hardware Air-Gap Sentinel
</a:t>
            </a:r>
            <a:r>
              <a:rPr sz="900">
                <a:solidFill>
                  <a:srgbClr val="94A3B8"/>
                </a:solidFill>
              </a:rPr>
              <a:t>Zephyr RTOS microcontroller with physical relay killswitch and OLED telemetry.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0B981"/>
                </a:solidFill>
              </a:rPr>
              <a:t>🇮🇳 100% Sovereign Allowlist Bypass
</a:t>
            </a:r>
            <a:r>
              <a:rPr sz="900">
                <a:solidFill>
                  <a:srgbClr val="94A3B8"/>
                </a:solidFill>
              </a:rPr>
              <a:t>Sub-0.1ms bypass ensuring 0% FPR on .gov.in and isro.gov.in.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SMART INDIA HACKATHON 2026 | PS: AI BASED NETWORK ATTACK FORECASTING FROM NETWORK TRAFFIC DATA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Proposed Solution: Multi-Stage Forecasting &amp; 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218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</a:defRPr>
            </a:pPr>
            <a:r>
              <a:t>Slide 02 /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29000" cy="51206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1. THE PROBLEM AT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31546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43F5E"/>
                </a:solidFill>
              </a:rPr>
              <a:t>❌ Reactive Dwell Time Trap
</a:t>
            </a:r>
            <a:r>
              <a:rPr sz="900">
                <a:solidFill>
                  <a:srgbClr val="94A3B8"/>
                </a:solidFill>
              </a:rPr>
              <a:t>Traditional firewalls &amp; DNS filters only block AFTER payload delivery. Enterprise dwell time averages 21 days.
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43F5E"/>
                </a:solidFill>
              </a:rPr>
              <a:t>❌ Opaque Black-Box ML
</a:t>
            </a:r>
            <a:r>
              <a:rPr sz="900">
                <a:solidFill>
                  <a:srgbClr val="94A3B8"/>
                </a:solidFill>
              </a:rPr>
              <a:t>Existing detectors output binary flags without explainability, causing severe alert fatigue and zero auditor trust.
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43F5E"/>
                </a:solidFill>
              </a:rPr>
              <a:t>❌ National Asset Disruption
</a:t>
            </a:r>
            <a:r>
              <a:rPr sz="900">
                <a:solidFill>
                  <a:srgbClr val="94A3B8"/>
                </a:solidFill>
              </a:rPr>
              <a:t>Commercial feeds lack sovereign context, blocking critical .gov.in / isro.gov.in subdomains with false alarms.
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43F5E"/>
                </a:solidFill>
              </a:rPr>
              <a:t>❌ Cloud Dependency Collapse
</a:t>
            </a:r>
            <a:r>
              <a:rPr sz="900">
                <a:solidFill>
                  <a:srgbClr val="94A3B8"/>
                </a:solidFill>
              </a:rPr>
              <a:t>When satellite or military bases lose external WAN, cloud-managed detection fails completely.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280160"/>
            <a:ext cx="3429000" cy="51206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38988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2. LIVE RUNNING PROTOTYPE</a:t>
            </a:r>
          </a:p>
        </p:txBody>
      </p:sp>
      <p:pic>
        <p:nvPicPr>
          <p:cNvPr id="9" name="Picture 8" descr="live_forecas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1691640"/>
            <a:ext cx="3209544" cy="15796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7136" y="3611880"/>
            <a:ext cx="31546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b="1" sz="950">
                <a:solidFill>
                  <a:srgbClr val="06B6D4"/>
                </a:solidFill>
              </a:rPr>
              <a:t>• MITRE ATT&amp;CK Kill-Chain: </a:t>
            </a:r>
            <a:r>
              <a:rPr sz="900">
                <a:solidFill>
                  <a:srgbClr val="F8FAFC"/>
                </a:solidFill>
              </a:rPr>
              <a:t>Visual progression showing resolved recon, active initial access, and lateral movement.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6B6D4"/>
                </a:solidFill>
              </a:rPr>
              <a:t>• Dynamic TTC Countdown: </a:t>
            </a:r>
            <a:r>
              <a:rPr sz="900">
                <a:solidFill>
                  <a:srgbClr val="F8FAFC"/>
                </a:solidFill>
              </a:rPr>
              <a:t>Live timer: ~45.5m until automated exfiltration occurs.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6B6D4"/>
                </a:solidFill>
              </a:rPr>
              <a:t>• TreeSHAP Feature Attribution: </a:t>
            </a:r>
            <a:r>
              <a:rPr sz="900">
                <a:solidFill>
                  <a:srgbClr val="F8FAFC"/>
                </a:solidFill>
              </a:rPr>
              <a:t>Exact mathematical weights: Port Sweep (+0.32), Tunneling (+0.48), C2 Periodicity (+0.41).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06B6D4"/>
                </a:solidFill>
              </a:rPr>
              <a:t>• Blast-Radius Lateral Graph: </a:t>
            </a:r>
            <a:r>
              <a:rPr sz="900">
                <a:solidFill>
                  <a:srgbClr val="F8FAFC"/>
                </a:solidFill>
              </a:rPr>
              <a:t>Live mapping of Patient Zero (172.28.0.101) &amp; +15m lateral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280160"/>
            <a:ext cx="3429000" cy="51206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38988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3. WHY WE STAND OUT (NOVELTY)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691640"/>
            <a:ext cx="31546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✅ Predictive Kill-Chain Model
</a:t>
            </a:r>
            <a:r>
              <a:rPr sz="900">
                <a:solidFill>
                  <a:srgbClr val="94A3B8"/>
                </a:solidFill>
              </a:rPr>
              <a:t>Projects multi-stage attacks across 15m/30m/60m temporal horizons before compromise occurs.
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✅ Sovereign Defense Bypass (&lt;0.1ms)
</a:t>
            </a:r>
            <a:r>
              <a:rPr sz="900">
                <a:solidFill>
                  <a:srgbClr val="94A3B8"/>
                </a:solidFill>
              </a:rPr>
              <a:t>Embedded Bloom allowlist guarantees 0% false positives on Indian strategic infrastructure.
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✅ Explainable AI (TreeSHAP)
</a:t>
            </a:r>
            <a:r>
              <a:rPr sz="900">
                <a:solidFill>
                  <a:srgbClr val="94A3B8"/>
                </a:solidFill>
              </a:rPr>
              <a:t>Decomposes risk mathematically into exact feature contributions (Entropy, Levenshtein, N-grams).
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✅ Physical Air-Gap Sentinel
</a:t>
            </a:r>
            <a:r>
              <a:rPr sz="900">
                <a:solidFill>
                  <a:srgbClr val="94A3B8"/>
                </a:solidFill>
              </a:rPr>
              <a:t>Zephyr RTOS microcontroller trips physical relay before data exfiltration can occur.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SMART INDIA HACKATHON 2026 | PS: AI BASED NETWORK ATTACK FORECASTING FROM NETWORK TRAFFIC DATA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Technical Approach: Multi-Modal Ingestion &amp; Dual-Plane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218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</a:defRPr>
            </a:pPr>
            <a:r>
              <a:t>Slide 03 /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05156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MULTI-MODAL NETWORK TELEMETRY INGESTION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Ingests 3 telemetry formats simultaneously: (1) 5-Tuple NetFlow / IPFIX JSON flows (src/dst IP, port, proto, bytes, TCP flags) | (2) Safe Raw PCAP Streams via dependency-free Python struct unpacker with 20MB safety cap | (3) Real-Time DNS Queries across UDP, DTLS, and DNS-over-HTTPS (DoH).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257800" cy="30632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7860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TIER 1: 7-STAGE REAL-TIME TRIAGE CASCADE (0–10MS)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983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6B6D4"/>
                </a:solidFill>
              </a:rPr>
              <a:t>• Stage 1: Sovereign Allowlist (&lt;0.1ms): </a:t>
            </a:r>
            <a:r>
              <a:rPr sz="900">
                <a:solidFill>
                  <a:srgbClr val="94A3B8"/>
                </a:solidFill>
              </a:rPr>
              <a:t>Direct bypass for isro.gov.in, nic.in (0% FPR guaranteed).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B6D4"/>
                </a:solidFill>
              </a:rPr>
              <a:t>• Stage 2: Threat Intel &amp; Bloom Cache (&lt;0.5ms): </a:t>
            </a:r>
            <a:r>
              <a:rPr sz="900">
                <a:solidFill>
                  <a:srgbClr val="94A3B8"/>
                </a:solidFill>
              </a:rPr>
              <a:t>STIX 2.1 JSON, Abuse.ch URLhaus, CERT-In feeds in Redis.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B6D4"/>
                </a:solidFill>
              </a:rPr>
              <a:t>• Stage 3: ML Lexical &amp; TreeSHAP (2-5ms): </a:t>
            </a:r>
            <a:r>
              <a:rPr sz="900">
                <a:solidFill>
                  <a:srgbClr val="94A3B8"/>
                </a:solidFill>
              </a:rPr>
              <a:t>150-Tree Random Forest + 19 lexical features (Entropy, Levenshtein).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B6D4"/>
                </a:solidFill>
              </a:rPr>
              <a:t>• Stage 4: Stateful Behavioral Engine (3-8ms): </a:t>
            </a:r>
            <a:r>
              <a:rPr sz="900">
                <a:solidFill>
                  <a:srgbClr val="94A3B8"/>
                </a:solidFill>
              </a:rPr>
              <a:t>60s sliding window, Base64/Hex DNS tunneling &amp; burst QPS.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B6D4"/>
                </a:solidFill>
              </a:rPr>
              <a:t>• Stage 5: Geo &amp; Fast-Flux Anomaly (2-4ms): </a:t>
            </a:r>
            <a:r>
              <a:rPr sz="900">
                <a:solidFill>
                  <a:srgbClr val="94A3B8"/>
                </a:solidFill>
              </a:rPr>
              <a:t>TTL decay (&lt;60s) &amp; ASN risk matrix analysis.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B6D4"/>
                </a:solidFill>
              </a:rPr>
              <a:t>• Stage 6: Active Safe Response (&lt;1ms): </a:t>
            </a:r>
            <a:r>
              <a:rPr sz="900">
                <a:solidFill>
                  <a:srgbClr val="94A3B8"/>
                </a:solidFill>
              </a:rPr>
              <a:t>Automated 0.0.0.0 sinkholing &amp; Zero-Trust host quarantine.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2375" y="2468880"/>
            <a:ext cx="5257800" cy="30632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9535" y="257860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TIER 2: TEMPORAL ATTACK FORECASTING PLANE (15M–60M)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834640"/>
            <a:ext cx="4983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A855F7"/>
                </a:solidFill>
              </a:rPr>
              <a:t>• Temporal Session Buffer (900s Window): </a:t>
            </a:r>
            <a:r>
              <a:rPr sz="900">
                <a:solidFill>
                  <a:srgbClr val="94A3B8"/>
                </a:solidFill>
              </a:rPr>
              <a:t>Aggregates multi-flow telemetry per host, tracking inter-arrival times and packet entropy.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A855F7"/>
                </a:solidFill>
              </a:rPr>
              <a:t>• 7-Stage MITRE ATT&amp;CK Markov Graph: </a:t>
            </a:r>
            <a:r>
              <a:rPr sz="900">
                <a:solidFill>
                  <a:srgbClr val="94A3B8"/>
                </a:solidFill>
              </a:rPr>
              <a:t>Reconnaissance → Initial Access → Subnet Discovery → C2 Beaconing → Lateral Movement → Exfiltration.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A855F7"/>
                </a:solidFill>
              </a:rPr>
              <a:t>• Dynamic Time-to-Compromise (TTC): </a:t>
            </a:r>
            <a:r>
              <a:rPr sz="900">
                <a:solidFill>
                  <a:srgbClr val="94A3B8"/>
                </a:solidFill>
              </a:rPr>
              <a:t>Derived mathematically, compressed by attacker query velocity (QPS burst rate).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A855F7"/>
                </a:solidFill>
              </a:rPr>
              <a:t>• Blast-Radius Topology Predictor: </a:t>
            </a:r>
            <a:r>
              <a:rPr sz="900">
                <a:solidFill>
                  <a:srgbClr val="94A3B8"/>
                </a:solidFill>
              </a:rPr>
              <a:t>Maps downstream target subnets before lateral pivots succeed.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A855F7"/>
                </a:solidFill>
              </a:rPr>
              <a:t>• Zephyr RTOS Hardware Fast-Trip Relay: </a:t>
            </a:r>
            <a:r>
              <a:rPr sz="900">
                <a:solidFill>
                  <a:srgbClr val="94A3B8"/>
                </a:solidFill>
              </a:rPr>
              <a:t>Issues physical hardware air-gap trip payload (GPIO 18) when threat index crosses threshold.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23560"/>
            <a:ext cx="10728655" cy="86868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33288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TECHNOLOGIES USED &amp; STACK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59E0B"/>
                </a:solidFill>
              </a:defRPr>
            </a:pPr>
            <a:r>
              <a:t>BACKEND: Python 3.11, FastAPI (9 microservices), Scikit-learn (Random Forest), TreeSHAP, Redis In-Memory, ClickHouse | EDGE HARDWARE: Raspberry Pi 4/5, Zephyr RTOS (ESP32-S3/RP2040), GPIO 18 Relay, SSD1306 OLED | FRONTEND: Next.js 16, TypeScript, Tailwind CSS, Lucide Icons, WebSockets.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SMART INDIA HACKATHON 2026 | PS: AI BASED NETWORK ATTACK FORECASTING FROM NETWORK TRAFFIC DATA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Feasibility &amp; Viability: Performance, Cost &amp; Dependency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218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</a:defRPr>
            </a:pPr>
            <a:r>
              <a:t>Slide 04 /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51206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1. SCALE, LATENCY &amp; SYSTEM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749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6B6D4"/>
                </a:solidFill>
              </a:rPr>
              <a:t>🔹 Sub-Millisecond Hot-Path SLA
</a:t>
            </a:r>
            <a:r>
              <a:rPr sz="900">
                <a:solidFill>
                  <a:srgbClr val="94A3B8"/>
                </a:solidFill>
              </a:rPr>
              <a:t>&lt;0.5 ms for Redis cached domains and &lt;0.1 ms for Sovereign Allowlist bypass.
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B6D4"/>
                </a:solidFill>
              </a:rPr>
              <a:t>🔹 Cold-Path Full Inference
</a:t>
            </a:r>
            <a:r>
              <a:rPr sz="900">
                <a:solidFill>
                  <a:srgbClr val="94A3B8"/>
                </a:solidFill>
              </a:rPr>
              <a:t>Evaluates all 38 lexical features and Random Forest in ~25–35 ms under continuous load.
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B6D4"/>
                </a:solidFill>
              </a:rPr>
              <a:t>🔹 Ultra-Low Resource Footprint
</a:t>
            </a:r>
            <a:r>
              <a:rPr sz="900">
                <a:solidFill>
                  <a:srgbClr val="94A3B8"/>
                </a:solidFill>
              </a:rPr>
              <a:t>Entire 9-microservice architecture consumes &lt;1.5 GB RAM and &lt;5% CPU idle on quad-core edge gateways.
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B6D4"/>
                </a:solidFill>
              </a:rPr>
              <a:t>🔹 Horizontal Container Scaling
</a:t>
            </a:r>
            <a:r>
              <a:rPr sz="900">
                <a:solidFill>
                  <a:srgbClr val="94A3B8"/>
                </a:solidFill>
              </a:rPr>
              <a:t>Fully containerized with Docker Compose; compute-heavy ML and Ingestion scale independently from lightweight cache nodes.
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B6D4"/>
                </a:solidFill>
              </a:rPr>
              <a:t>🔹 Offline Graceful Degradation
</a:t>
            </a:r>
            <a:r>
              <a:rPr sz="900">
                <a:solidFill>
                  <a:srgbClr val="94A3B8"/>
                </a:solidFill>
              </a:rPr>
              <a:t>If Redis or ML fails, 9 deterministic local fallback rules and persistent on-disk IOC tables ensure continuous threat prevention.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9375" y="1280160"/>
            <a:ext cx="6400800" cy="51206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96535" y="1389888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2. ECONOMIC FEASIBILITY: ENTERPRISE VS DNS SHIELD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12080" y="1737360"/>
          <a:ext cx="6080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59E0B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59E0B"/>
                          </a:solidFill>
                        </a:defRPr>
                      </a:pPr>
                      <a:r>
                        <a:t>Commercial Enterprise (Darktrace / Palo Alto)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0B981"/>
                          </a:solidFill>
                        </a:defRPr>
                      </a:pPr>
                      <a:r>
                        <a:t>DNS Shield X-Forecast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6B6D4"/>
                          </a:solidFill>
                        </a:defRPr>
                      </a:pPr>
                      <a:r>
                        <a:t>Hardware / Appliance Cost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₹15,00,000+ proprietary blade server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₹4,500 (Raspberry Pi + Zephyr MCU)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6B6D4"/>
                          </a:solidFill>
                        </a:defRPr>
                      </a:pPr>
                      <a:r>
                        <a:t>Licensing Model</a:t>
                      </a:r>
                    </a:p>
                  </a:txBody>
                  <a:tcPr>
                    <a:solidFill>
                      <a:srgbClr val="10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₹8,00,000–₹25,00,000 / year recurring</a:t>
                      </a:r>
                    </a:p>
                  </a:txBody>
                  <a:tcPr>
                    <a:solidFill>
                      <a:srgbClr val="10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100% Free &amp; Open Sovereign Architecture</a:t>
                      </a:r>
                    </a:p>
                  </a:txBody>
                  <a:tcPr>
                    <a:solidFill>
                      <a:srgbClr val="1018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6B6D4"/>
                          </a:solidFill>
                        </a:defRPr>
                      </a:pPr>
                      <a:r>
                        <a:t>Telemetry Privacy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Mandatory cloud egress; data leaks risk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100% Local on-premise; zero cloud egress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6B6D4"/>
                          </a:solidFill>
                        </a:defRPr>
                      </a:pPr>
                      <a:r>
                        <a:t>Explainability (XAI)</a:t>
                      </a:r>
                    </a:p>
                  </a:txBody>
                  <a:tcPr>
                    <a:solidFill>
                      <a:srgbClr val="10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Opaque proprietary black-box score</a:t>
                      </a:r>
                    </a:p>
                  </a:txBody>
                  <a:tcPr>
                    <a:solidFill>
                      <a:srgbClr val="10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Exact Additive TreeSHAP feature attribution (φ)</a:t>
                      </a:r>
                    </a:p>
                  </a:txBody>
                  <a:tcPr>
                    <a:solidFill>
                      <a:srgbClr val="1018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6B6D4"/>
                          </a:solidFill>
                        </a:defRPr>
                      </a:pPr>
                      <a:r>
                        <a:t>Active Defense Actuation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Reactive alerts logged to human SOC queue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Preemptive autonomous physical air-gap relay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SMART INDIA HACKATHON 2026 | PS: AI BASED NETWORK ATTACK FORECASTING FROM NETWORK TRAFFIC DATA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Impact &amp; Benchmarks: Quantified Results &amp; Mathematical Formulations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218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</a:defRPr>
            </a:pPr>
            <a:r>
              <a:t>Slide 05 /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011680" cy="12344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99.70%</a:t>
            </a:r>
          </a:p>
          <a:p>
            <a:pPr algn="ctr">
              <a:defRPr sz="850" b="1">
                <a:solidFill>
                  <a:srgbClr val="F8FAFC"/>
                </a:solidFill>
              </a:defRPr>
            </a:pPr>
            <a:r>
              <a:t>HOLD-OUT ACCURACY</a:t>
            </a:r>
          </a:p>
          <a:p>
            <a:pPr algn="ctr">
              <a:defRPr sz="750">
                <a:solidFill>
                  <a:srgbClr val="94A3B8"/>
                </a:solidFill>
              </a:defRPr>
            </a:pPr>
            <a:r>
              <a:t>Tested on 10,000 domain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280160"/>
            <a:ext cx="2011680" cy="12344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137160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100.0%</a:t>
            </a:r>
          </a:p>
          <a:p>
            <a:pPr algn="ctr">
              <a:defRPr sz="850" b="1">
                <a:solidFill>
                  <a:srgbClr val="F8FAFC"/>
                </a:solidFill>
              </a:defRPr>
            </a:pPr>
            <a:r>
              <a:t>ROC-AUC SCORE</a:t>
            </a:r>
          </a:p>
          <a:p>
            <a:pPr algn="ctr">
              <a:defRPr sz="750">
                <a:solidFill>
                  <a:srgbClr val="94A3B8"/>
                </a:solidFill>
              </a:defRPr>
            </a:pPr>
            <a:r>
              <a:t>Zero-error separation on test splits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280160"/>
            <a:ext cx="2011680" cy="12344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137160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</a:defRPr>
            </a:pPr>
            <a:r>
              <a:t>97.98%</a:t>
            </a:r>
          </a:p>
          <a:p>
            <a:pPr algn="ctr">
              <a:defRPr sz="850" b="1">
                <a:solidFill>
                  <a:srgbClr val="F8FAFC"/>
                </a:solidFill>
              </a:defRPr>
            </a:pPr>
            <a:r>
              <a:t>ZERO-DAY RECALL</a:t>
            </a:r>
          </a:p>
          <a:p>
            <a:pPr algn="ctr">
              <a:defRPr sz="750">
                <a:solidFill>
                  <a:srgbClr val="94A3B8"/>
                </a:solidFill>
              </a:defRPr>
            </a:pPr>
            <a:r>
              <a:t>Across 14 unseen DGA malware families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280160"/>
            <a:ext cx="2011680" cy="12344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6" y="137160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100,000+</a:t>
            </a:r>
          </a:p>
          <a:p>
            <a:pPr algn="ctr">
              <a:defRPr sz="850" b="1">
                <a:solidFill>
                  <a:srgbClr val="F8FAFC"/>
                </a:solidFill>
              </a:defRPr>
            </a:pPr>
            <a:r>
              <a:t>DOMAINS EVALUATED</a:t>
            </a:r>
          </a:p>
          <a:p>
            <a:pPr algn="ctr">
              <a:defRPr sz="750">
                <a:solidFill>
                  <a:srgbClr val="94A3B8"/>
                </a:solidFill>
              </a:defRPr>
            </a:pPr>
            <a:r>
              <a:t>Massive stress &amp; evaluation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280160"/>
            <a:ext cx="2011680" cy="12344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8048" y="137160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0% FPR</a:t>
            </a:r>
          </a:p>
          <a:p>
            <a:pPr algn="ctr">
              <a:defRPr sz="850" b="1">
                <a:solidFill>
                  <a:srgbClr val="F8FAFC"/>
                </a:solidFill>
              </a:defRPr>
            </a:pPr>
            <a:r>
              <a:t>SOVEREIGN ASSETS</a:t>
            </a:r>
          </a:p>
          <a:p>
            <a:pPr algn="ctr">
              <a:defRPr sz="750">
                <a:solidFill>
                  <a:srgbClr val="94A3B8"/>
                </a:solidFill>
              </a:defRPr>
            </a:pPr>
            <a:r>
              <a:t>Guaranteed 0% FPR for .gov.in &amp; isro.gov.in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97480"/>
            <a:ext cx="5257800" cy="370332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0720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MATHEMATICAL RIGOR &amp; FORMULATIONS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48920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b="1" sz="950">
                <a:solidFill>
                  <a:srgbClr val="F59E0B"/>
                </a:solidFill>
              </a:rPr>
              <a:t>📐 1. Dynamic Time-to-Compromise (TTC) Formulation
</a:t>
            </a:r>
            <a:r>
              <a:rPr sz="850">
                <a:solidFill>
                  <a:srgbClr val="94A3B8"/>
                </a:solidFill>
              </a:rPr>
              <a:t>TTC = T_phase_base × (1 - C_model) × [ 1 / (1 + α × QPS) ]
Dynamically derives attacker dwell time remaining before exfiltration, compressed by automated high-frequency query bursts.
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F59E0B"/>
                </a:solidFill>
              </a:rPr>
              <a:t>📐 2. Exact Additive TreeSHAP Explainability
</a:t>
            </a:r>
            <a:r>
              <a:rPr sz="850">
                <a:solidFill>
                  <a:srgbClr val="94A3B8"/>
                </a:solidFill>
              </a:rPr>
              <a:t>f(x) = φ_0 + Σ φ_i(x)
Mathematically proves exact feature attribution contributions for character entropy, n-grams, and vowel ratios, eliminating black-box bias.
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F59E0B"/>
                </a:solidFill>
              </a:rPr>
              <a:t>📐 3. Shannon Information Entropy Threshold
</a:t>
            </a:r>
            <a:r>
              <a:rPr sz="850">
                <a:solidFill>
                  <a:srgbClr val="94A3B8"/>
                </a:solidFill>
              </a:rPr>
              <a:t>H(X) = - Σ p(x_i) log_2 p(x_i)
Benign baseline: 2.5–3.2 bits. Malicious DGA &amp; Base64 tunneling strings trigger threshold at H(X) &gt; 3.8 bits.
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2375" y="2697480"/>
            <a:ext cx="5257800" cy="370332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9535" y="280720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REAL-WORLD SOVEREIGN IMPACT &amp; LIVE SOC VIEW</a:t>
            </a:r>
          </a:p>
        </p:txBody>
      </p:sp>
      <p:pic>
        <p:nvPicPr>
          <p:cNvPr id="19" name="Picture 18" descr="live_soc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063240"/>
            <a:ext cx="4937760" cy="24303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5080" y="5029200"/>
            <a:ext cx="4937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SOVEREIGN DEPLOYMENT READY: Specifically engineered for Critical National Infrastructure (CNI), defense telemetry, smart grid SCADA edge networks, and space data uplinks. Provides air-gap survivability with zero cloud dependence and instant MITRE ATT&amp;CK kill-chain visibility.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SMART INDIA HACKATHON 2026 | PS: AI BASED NETWORK ATTACK FORECASTING FROM NETWORK TRAFFIC DATA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Research Foundations, Disclosures &amp; Defense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65760"/>
            <a:ext cx="1218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</a:defRPr>
            </a:pPr>
            <a:r>
              <a:t>Slide 06 /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29000" cy="51206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1. ACADEMIC &amp; RFC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31546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b="1" sz="950">
                <a:solidFill>
                  <a:srgbClr val="06B6D4"/>
                </a:solidFill>
              </a:rPr>
              <a:t>📚 RFC 1034 &amp; RFC 1035 (IETF)
</a:t>
            </a:r>
            <a:r>
              <a:rPr sz="850">
                <a:solidFill>
                  <a:srgbClr val="94A3B8"/>
                </a:solidFill>
              </a:rPr>
              <a:t>Mockapetris, P. — Domain Names: Concepts, Facilities &amp; Implementation Specifications.
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6B6D4"/>
                </a:solidFill>
              </a:rPr>
              <a:t>📚 MITRE ATT&amp;CK Matrix
</a:t>
            </a:r>
            <a:r>
              <a:rPr sz="850">
                <a:solidFill>
                  <a:srgbClr val="94A3B8"/>
                </a:solidFill>
              </a:rPr>
              <a:t>Technique T1071.004 (DNS), T1568 (Dynamic Resolution), and T1048 (Exfiltration via DNS).
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6B6D4"/>
                </a:solidFill>
              </a:rPr>
              <a:t>📚 TreeSHAP Explainable AI
</a:t>
            </a:r>
            <a:r>
              <a:rPr sz="850">
                <a:solidFill>
                  <a:srgbClr val="94A3B8"/>
                </a:solidFill>
              </a:rPr>
              <a:t>Lundberg et al. — Consistent Feature Attribution for Tree Ensembles (Nature Machine Intelligence).
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6B6D4"/>
                </a:solidFill>
              </a:rPr>
              <a:t>📚 NIST SP 800-81-2
</a:t>
            </a:r>
            <a:r>
              <a:rPr sz="850">
                <a:solidFill>
                  <a:srgbClr val="94A3B8"/>
                </a:solidFill>
              </a:rPr>
              <a:t>Chandramouli, R. — Secure Domain Name System Deployment Guide (National Institute of Standards).
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6B6D4"/>
                </a:solidFill>
              </a:rPr>
              <a:t>📚 USENIX Security Research
</a:t>
            </a:r>
            <a:r>
              <a:rPr sz="850">
                <a:solidFill>
                  <a:srgbClr val="94A3B8"/>
                </a:solidFill>
              </a:rPr>
              <a:t>Paxson et al. — Practical Comprehensive Bounds on Surreptitious Communication over DNS.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280160"/>
            <a:ext cx="3429000" cy="51206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38988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2. TRANSPARENT DISCLOSURES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691640"/>
            <a:ext cx="31546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b="1" sz="950">
                <a:solidFill>
                  <a:srgbClr val="F59E0B"/>
                </a:solidFill>
              </a:rPr>
              <a:t>🔍 Telemetry Ingestion Scope
</a:t>
            </a:r>
            <a:r>
              <a:rPr sz="850">
                <a:solidFill>
                  <a:srgbClr val="94A3B8"/>
                </a:solidFill>
              </a:rPr>
              <a:t>Currently ingests NetFlow/IPFIX structured JSON telemetry and raw PCAP file uploads via struct unpacker rather than raw kernel socket promisc daemons.
</a:t>
            </a:r>
          </a:p>
          <a:p>
            <a:pPr>
              <a:spcAft>
                <a:spcPts val="900"/>
              </a:spcAft>
            </a:pPr>
            <a:r>
              <a:rPr b="1" sz="950">
                <a:solidFill>
                  <a:srgbClr val="F59E0B"/>
                </a:solidFill>
              </a:rPr>
              <a:t>🔍 Hardware Sentinel Integration
</a:t>
            </a:r>
            <a:r>
              <a:rPr sz="850">
                <a:solidFill>
                  <a:srgbClr val="94A3B8"/>
                </a:solidFill>
              </a:rPr>
              <a:t>Physical air-gap trip commands are verified and formatted for Zephyr RTOS GPIO-18 protocol; tested in software emulation in container builds.
</a:t>
            </a:r>
          </a:p>
          <a:p>
            <a:pPr>
              <a:spcAft>
                <a:spcPts val="900"/>
              </a:spcAft>
            </a:pPr>
            <a:r>
              <a:rPr b="1" sz="950">
                <a:solidFill>
                  <a:srgbClr val="F59E0B"/>
                </a:solidFill>
              </a:rPr>
              <a:t>🔍 Lexical Generalization Bounds
</a:t>
            </a:r>
            <a:r>
              <a:rPr sz="850">
                <a:solidFill>
                  <a:srgbClr val="94A3B8"/>
                </a:solidFill>
              </a:rPr>
              <a:t>Standalone lexical models produce false positives on complex multi-hyphen marketing domains; successfully mitigated by sandwiching ML inside 7-stage cascade.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280160"/>
            <a:ext cx="3429000" cy="5120640"/>
          </a:xfrm>
          <a:prstGeom prst="roundRect">
            <a:avLst/>
          </a:prstGeom>
          <a:solidFill>
            <a:srgbClr val="141D2F"/>
          </a:solidFill>
          <a:ln w="1524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38988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3. LIVE DEMO &amp;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1691640"/>
            <a:ext cx="31546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🌐 Live Production Console
</a:t>
            </a:r>
            <a:r>
              <a:rPr sz="850">
                <a:solidFill>
                  <a:srgbClr val="94A3B8"/>
                </a:solidFill>
              </a:rPr>
              <a:t>https://dnssecurityproject.vercel.app/app/dashboard
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🔮 Live Attack Forecast View
</a:t>
            </a:r>
            <a:r>
              <a:rPr sz="850">
                <a:solidFill>
                  <a:srgbClr val="94A3B8"/>
                </a:solidFill>
              </a:rPr>
              <a:t>https://dnssecurityproject.vercel.app/app/forecast
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📁 GitHub Repository &amp; Codebase
</a:t>
            </a:r>
            <a:r>
              <a:rPr sz="850">
                <a:solidFill>
                  <a:srgbClr val="94A3B8"/>
                </a:solidFill>
              </a:rPr>
              <a:t>Tragic Bytes / DNS Shield X-Forecast
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📊 Benchmark Dataset &amp; Model Cards
</a:t>
            </a:r>
            <a:r>
              <a:rPr sz="850">
                <a:solidFill>
                  <a:srgbClr val="94A3B8"/>
                </a:solidFill>
              </a:rPr>
              <a:t>100k Honest Benchmark Logs &amp; SHA-256 Hashes documented in repo
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10B981"/>
                </a:solidFill>
              </a:rPr>
              <a:t>🛠️ Interactive Red-Team Suite
</a:t>
            </a:r>
            <a:r>
              <a:rPr sz="850">
                <a:solidFill>
                  <a:srgbClr val="94A3B8"/>
                </a:solidFill>
              </a:rPr>
              <a:t>Built-in 6-vector attack simulator (Cryptolocker DGA, Iodine tunneling, typosquatting)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